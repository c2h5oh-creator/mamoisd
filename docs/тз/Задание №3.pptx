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84" r:id="rId5"/>
    <p:sldId id="289" r:id="rId6"/>
    <p:sldId id="290" r:id="rId7"/>
    <p:sldId id="291" r:id="rId8"/>
    <p:sldId id="281" r:id="rId9"/>
    <p:sldId id="261" r:id="rId10"/>
    <p:sldId id="275" r:id="rId11"/>
    <p:sldId id="264" r:id="rId12"/>
    <p:sldId id="279" r:id="rId13"/>
    <p:sldId id="288" r:id="rId14"/>
    <p:sldId id="292" r:id="rId15"/>
    <p:sldId id="274" r:id="rId16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8"/>
      <p:bold r:id="rId19"/>
      <p:italic r:id="rId20"/>
      <p:boldItalic r:id="rId21"/>
    </p:embeddedFont>
    <p:embeddedFont>
      <p:font typeface="Comic Sans MS" panose="030F0702030302020204" pitchFamily="66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8C4CB9-4DA2-4432-8403-D4CA2274E029}">
  <a:tblStyle styleId="{918C4CB9-4DA2-4432-8403-D4CA2274E0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445698E-E4C6-4B95-A579-CEDE516B0F8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04" autoAdjust="0"/>
    <p:restoredTop sz="94660"/>
  </p:normalViewPr>
  <p:slideViewPr>
    <p:cSldViewPr snapToGrid="0">
      <p:cViewPr>
        <p:scale>
          <a:sx n="110" d="100"/>
          <a:sy n="110" d="100"/>
        </p:scale>
        <p:origin x="518" y="-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d77d8838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d77d8838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d77d8838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d77d8838d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E154B2F-53D8-833A-AFB0-896A277E7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d77d8838d_0_25:notes">
            <a:extLst>
              <a:ext uri="{FF2B5EF4-FFF2-40B4-BE49-F238E27FC236}">
                <a16:creationId xmlns:a16="http://schemas.microsoft.com/office/drawing/2014/main" id="{10A48AE9-54A9-1D06-B621-31610029BC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d77d8838d_0_25:notes">
            <a:extLst>
              <a:ext uri="{FF2B5EF4-FFF2-40B4-BE49-F238E27FC236}">
                <a16:creationId xmlns:a16="http://schemas.microsoft.com/office/drawing/2014/main" id="{B1EDD08B-D86C-DE49-D2D1-9E0BB50E1B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208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BD7EA5D1-B57A-8060-C466-26C0F791C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d77d8838d_0_25:notes">
            <a:extLst>
              <a:ext uri="{FF2B5EF4-FFF2-40B4-BE49-F238E27FC236}">
                <a16:creationId xmlns:a16="http://schemas.microsoft.com/office/drawing/2014/main" id="{170EAE99-31B8-A17E-70C0-E41CD41E56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d77d8838d_0_25:notes">
            <a:extLst>
              <a:ext uri="{FF2B5EF4-FFF2-40B4-BE49-F238E27FC236}">
                <a16:creationId xmlns:a16="http://schemas.microsoft.com/office/drawing/2014/main" id="{F912EA55-8525-FA96-D726-31793DAF2A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3778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4AAD76C6-D434-F68E-C096-D90E77BCA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d77d8838d_0_25:notes">
            <a:extLst>
              <a:ext uri="{FF2B5EF4-FFF2-40B4-BE49-F238E27FC236}">
                <a16:creationId xmlns:a16="http://schemas.microsoft.com/office/drawing/2014/main" id="{0389AD9B-B9BA-BAEA-278F-FCFD99275F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d77d8838d_0_25:notes">
            <a:extLst>
              <a:ext uri="{FF2B5EF4-FFF2-40B4-BE49-F238E27FC236}">
                <a16:creationId xmlns:a16="http://schemas.microsoft.com/office/drawing/2014/main" id="{358CEA8F-2D38-5968-A541-5B6FC8C22E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5973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1D3E0DFC-760A-55AF-EAF1-00BE56201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d77d8838d_0_25:notes">
            <a:extLst>
              <a:ext uri="{FF2B5EF4-FFF2-40B4-BE49-F238E27FC236}">
                <a16:creationId xmlns:a16="http://schemas.microsoft.com/office/drawing/2014/main" id="{9446E89A-34E8-CC68-0B42-E377CB3E8C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d77d8838d_0_25:notes">
            <a:extLst>
              <a:ext uri="{FF2B5EF4-FFF2-40B4-BE49-F238E27FC236}">
                <a16:creationId xmlns:a16="http://schemas.microsoft.com/office/drawing/2014/main" id="{05F67C01-F5F2-D127-1413-3680C1D899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40984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6FA13D0B-476D-5D30-6114-C676B3A6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d77d8838d_0_25:notes">
            <a:extLst>
              <a:ext uri="{FF2B5EF4-FFF2-40B4-BE49-F238E27FC236}">
                <a16:creationId xmlns:a16="http://schemas.microsoft.com/office/drawing/2014/main" id="{B945F619-35F0-43C6-4789-C5F94D08BA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d77d8838d_0_25:notes">
            <a:extLst>
              <a:ext uri="{FF2B5EF4-FFF2-40B4-BE49-F238E27FC236}">
                <a16:creationId xmlns:a16="http://schemas.microsoft.com/office/drawing/2014/main" id="{0FE990AD-D4CB-6427-74D7-F8D9C4D1DC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6627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d77d8838d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d77d8838d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88134378-4221-6DDF-E45C-F7C882026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d77d8838d_0_41:notes">
            <a:extLst>
              <a:ext uri="{FF2B5EF4-FFF2-40B4-BE49-F238E27FC236}">
                <a16:creationId xmlns:a16="http://schemas.microsoft.com/office/drawing/2014/main" id="{5DB633A7-9B54-64C4-0436-108E98AE05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d77d8838d_0_41:notes">
            <a:extLst>
              <a:ext uri="{FF2B5EF4-FFF2-40B4-BE49-F238E27FC236}">
                <a16:creationId xmlns:a16="http://schemas.microsoft.com/office/drawing/2014/main" id="{C68BF124-A01A-2E50-3BA2-FDE6C79903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70164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d77d8838d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d77d8838d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B9FBE16D-6E53-0F89-0804-228FC0A55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d77d8838d_0_49:notes">
            <a:extLst>
              <a:ext uri="{FF2B5EF4-FFF2-40B4-BE49-F238E27FC236}">
                <a16:creationId xmlns:a16="http://schemas.microsoft.com/office/drawing/2014/main" id="{DC535D56-CAD1-1B8A-9B81-536969D71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d77d8838d_0_49:notes">
            <a:extLst>
              <a:ext uri="{FF2B5EF4-FFF2-40B4-BE49-F238E27FC236}">
                <a16:creationId xmlns:a16="http://schemas.microsoft.com/office/drawing/2014/main" id="{4A8C759A-8365-4278-EF76-70B485BB02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07943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D213593B-4FCE-3CF4-890F-F00224828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d77d8838d_0_17:notes">
            <a:extLst>
              <a:ext uri="{FF2B5EF4-FFF2-40B4-BE49-F238E27FC236}">
                <a16:creationId xmlns:a16="http://schemas.microsoft.com/office/drawing/2014/main" id="{ED902EBE-0B86-1326-5BC5-05F6FBD663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d77d8838d_0_17:notes">
            <a:extLst>
              <a:ext uri="{FF2B5EF4-FFF2-40B4-BE49-F238E27FC236}">
                <a16:creationId xmlns:a16="http://schemas.microsoft.com/office/drawing/2014/main" id="{58AE6CEA-40D2-19F3-F7A0-916A14C762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36415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B02DD14B-58E1-22AC-9B38-352D266D4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d77d8838d_0_17:notes">
            <a:extLst>
              <a:ext uri="{FF2B5EF4-FFF2-40B4-BE49-F238E27FC236}">
                <a16:creationId xmlns:a16="http://schemas.microsoft.com/office/drawing/2014/main" id="{03141849-FEE9-780F-9539-C9ABC53D07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d77d8838d_0_17:notes">
            <a:extLst>
              <a:ext uri="{FF2B5EF4-FFF2-40B4-BE49-F238E27FC236}">
                <a16:creationId xmlns:a16="http://schemas.microsoft.com/office/drawing/2014/main" id="{EB46D279-019A-DE4D-DCCF-B50938EFF0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86346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fc25c9316d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fc25c9316d_0_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9841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 b="1"/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/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/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/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/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/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3"/>
          </p:nvPr>
        </p:nvSpPr>
        <p:spPr>
          <a:xfrm>
            <a:off x="4629151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 b="1"/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/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/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/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/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/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4"/>
          </p:nvPr>
        </p:nvSpPr>
        <p:spPr>
          <a:xfrm>
            <a:off x="4629151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 amt="90000"/>
          </a:blip>
          <a:srcRect l="16419" t="7547" r="19841" b="7547"/>
          <a:stretch/>
        </p:blipFill>
        <p:spPr>
          <a:xfrm>
            <a:off x="4272233" y="0"/>
            <a:ext cx="4871766" cy="42993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>
            <a:spLocks noGrp="1"/>
          </p:cNvSpPr>
          <p:nvPr>
            <p:ph type="ctrTitle"/>
          </p:nvPr>
        </p:nvSpPr>
        <p:spPr>
          <a:xfrm>
            <a:off x="125350" y="121445"/>
            <a:ext cx="4146900" cy="41778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solidFill>
                  <a:srgbClr val="0E278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Тема: </a:t>
            </a:r>
            <a:r>
              <a:rPr lang="ru-RU" sz="3200" dirty="0">
                <a:solidFill>
                  <a:srgbClr val="0E278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Приемы моделирования справочника</a:t>
            </a:r>
            <a:endParaRPr sz="3200" dirty="0">
              <a:solidFill>
                <a:srgbClr val="212529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66" name="Google Shape;66;p14"/>
          <p:cNvGrpSpPr/>
          <p:nvPr/>
        </p:nvGrpSpPr>
        <p:grpSpPr>
          <a:xfrm>
            <a:off x="0" y="4299300"/>
            <a:ext cx="9144000" cy="844200"/>
            <a:chOff x="0" y="4299300"/>
            <a:chExt cx="9144000" cy="844200"/>
          </a:xfrm>
        </p:grpSpPr>
        <p:sp>
          <p:nvSpPr>
            <p:cNvPr id="67" name="Google Shape;67;p14"/>
            <p:cNvSpPr/>
            <p:nvPr/>
          </p:nvSpPr>
          <p:spPr>
            <a:xfrm>
              <a:off x="0" y="4299300"/>
              <a:ext cx="9144000" cy="844200"/>
            </a:xfrm>
            <a:prstGeom prst="rect">
              <a:avLst/>
            </a:prstGeom>
            <a:gradFill>
              <a:gsLst>
                <a:gs pos="0">
                  <a:srgbClr val="0E278A"/>
                </a:gs>
                <a:gs pos="83000">
                  <a:srgbClr val="050D3F"/>
                </a:gs>
                <a:gs pos="100000">
                  <a:srgbClr val="050D3F"/>
                </a:gs>
              </a:gsLst>
              <a:lin ang="558015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8" name="Google Shape;68;p1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845127" y="4487775"/>
              <a:ext cx="1987171" cy="4672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311700" y="2901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720" b="1" dirty="0">
                <a:solidFill>
                  <a:srgbClr val="0E278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Цель занятия</a:t>
            </a:r>
            <a:endParaRPr sz="2720" b="1" dirty="0">
              <a:solidFill>
                <a:srgbClr val="0E278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311700" y="901725"/>
            <a:ext cx="8520600" cy="343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 dirty="0">
                <a:solidFill>
                  <a:srgbClr val="0E278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Цель:</a:t>
            </a:r>
            <a:r>
              <a:rPr lang="ru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Освоить приемы объектно-ориентированного моделирования на примере разработки каркаса подсистемы «Ведение справочника изделий» с настраиваемым списком параметров.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>
                <a:solidFill>
                  <a:srgbClr val="0E278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Задание:</a:t>
            </a:r>
            <a:r>
              <a:rPr lang="ru" dirty="0">
                <a:solidFill>
                  <a:srgbClr val="212529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Разработать проект каркаса для работы с реестрами изделий, который позволяет:</a:t>
            </a:r>
          </a:p>
          <a:p>
            <a:pPr marL="285750" indent="-285750"/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Описывать параметры для различных классов изделий</a:t>
            </a:r>
          </a:p>
          <a:p>
            <a:pPr marL="285750" indent="-285750"/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Настраивать типы параметров (численные, перечисления)</a:t>
            </a:r>
          </a:p>
          <a:p>
            <a:pPr marL="285750" indent="-285750"/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Наследовать параметры от родительских классов</a:t>
            </a:r>
          </a:p>
          <a:p>
            <a:pPr marL="285750" indent="-285750"/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Задавать ограничения на значения параметров</a:t>
            </a:r>
          </a:p>
          <a:p>
            <a:pPr marL="285750" indent="-285750"/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Вести справочник конкретных изделий с их характеристиками</a:t>
            </a:r>
            <a:endParaRPr dirty="0">
              <a:solidFill>
                <a:srgbClr val="212529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75" name="Google Shape;75;p15"/>
          <p:cNvGrpSpPr/>
          <p:nvPr/>
        </p:nvGrpSpPr>
        <p:grpSpPr>
          <a:xfrm>
            <a:off x="0" y="4470925"/>
            <a:ext cx="9144000" cy="672600"/>
            <a:chOff x="0" y="4470925"/>
            <a:chExt cx="9144000" cy="672600"/>
          </a:xfrm>
        </p:grpSpPr>
        <p:sp>
          <p:nvSpPr>
            <p:cNvPr id="76" name="Google Shape;76;p15"/>
            <p:cNvSpPr/>
            <p:nvPr/>
          </p:nvSpPr>
          <p:spPr>
            <a:xfrm>
              <a:off x="0" y="4470925"/>
              <a:ext cx="9144000" cy="672600"/>
            </a:xfrm>
            <a:prstGeom prst="rect">
              <a:avLst/>
            </a:prstGeom>
            <a:gradFill>
              <a:gsLst>
                <a:gs pos="0">
                  <a:srgbClr val="0E278A"/>
                </a:gs>
                <a:gs pos="83000">
                  <a:srgbClr val="050D3F"/>
                </a:gs>
                <a:gs pos="100000">
                  <a:srgbClr val="050D3F"/>
                </a:gs>
              </a:gsLst>
              <a:lin ang="558015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7" name="Google Shape;77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45127" y="4554150"/>
              <a:ext cx="1987171" cy="4672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311700" y="2901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720" b="1" dirty="0">
                <a:solidFill>
                  <a:srgbClr val="0E278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Требования к системе</a:t>
            </a:r>
            <a:endParaRPr sz="2720" b="1" dirty="0">
              <a:solidFill>
                <a:srgbClr val="0E278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83" name="Google Shape;83;p16"/>
          <p:cNvGrpSpPr/>
          <p:nvPr/>
        </p:nvGrpSpPr>
        <p:grpSpPr>
          <a:xfrm>
            <a:off x="0" y="4470925"/>
            <a:ext cx="9144000" cy="672600"/>
            <a:chOff x="0" y="4470925"/>
            <a:chExt cx="9144000" cy="672600"/>
          </a:xfrm>
        </p:grpSpPr>
        <p:sp>
          <p:nvSpPr>
            <p:cNvPr id="84" name="Google Shape;84;p16"/>
            <p:cNvSpPr/>
            <p:nvPr/>
          </p:nvSpPr>
          <p:spPr>
            <a:xfrm>
              <a:off x="0" y="4470925"/>
              <a:ext cx="9144000" cy="672600"/>
            </a:xfrm>
            <a:prstGeom prst="rect">
              <a:avLst/>
            </a:prstGeom>
            <a:gradFill>
              <a:gsLst>
                <a:gs pos="0">
                  <a:srgbClr val="0E278A"/>
                </a:gs>
                <a:gs pos="83000">
                  <a:srgbClr val="050D3F"/>
                </a:gs>
                <a:gs pos="100000">
                  <a:srgbClr val="050D3F"/>
                </a:gs>
              </a:gsLst>
              <a:lin ang="558015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5" name="Google Shape;85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45127" y="4554150"/>
              <a:ext cx="1987171" cy="467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699" y="773022"/>
            <a:ext cx="8589413" cy="328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требования:</a:t>
            </a: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Хранение: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Схема классификатора, состав и типы параметров классов сохраняются в базе данных.</a:t>
            </a:r>
          </a:p>
          <a:p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параметрами:</a:t>
            </a: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Ведение списков параметров численного типа и типа «перечисление»</a:t>
            </a:r>
          </a:p>
          <a:p>
            <a:pPr lvl="1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Наследование параметров потомкам заданного класса</a:t>
            </a:r>
          </a:p>
          <a:p>
            <a:pPr lvl="1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Редактирование состава параметров каждого подкласса изделий</a:t>
            </a:r>
          </a:p>
          <a:p>
            <a:pPr lvl="1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ограничений на значения численных параметров (минимум, максимум)</a:t>
            </a:r>
          </a:p>
          <a:p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изделиями:</a:t>
            </a: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Редактирование значений параметров конкретного изделия</a:t>
            </a:r>
          </a:p>
          <a:p>
            <a:pPr lvl="1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Поиск изделий заданного класса с представлением значений параметров</a:t>
            </a:r>
          </a:p>
          <a:p>
            <a:pPr lvl="1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Отбор изделий по значениям параметров</a:t>
            </a:r>
          </a:p>
          <a:p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Агрегаты:</a:t>
            </a: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и работа с агрегатами параметров (группировка)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91737BD7-125D-E1AB-4583-7B62C4C14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>
            <a:extLst>
              <a:ext uri="{FF2B5EF4-FFF2-40B4-BE49-F238E27FC236}">
                <a16:creationId xmlns:a16="http://schemas.microsoft.com/office/drawing/2014/main" id="{A2B1FB8C-FFF2-F0F4-E6B7-BBC8398B8F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901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-RU" sz="2720" b="1" dirty="0">
                <a:solidFill>
                  <a:srgbClr val="0E278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Введение в предметную область </a:t>
            </a:r>
            <a:endParaRPr sz="2720" b="1" dirty="0">
              <a:solidFill>
                <a:srgbClr val="0E278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3" name="Google Shape;93;p17">
            <a:extLst>
              <a:ext uri="{FF2B5EF4-FFF2-40B4-BE49-F238E27FC236}">
                <a16:creationId xmlns:a16="http://schemas.microsoft.com/office/drawing/2014/main" id="{8AE54AD7-B16C-D7B4-D4B9-C46489D86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8" y="912300"/>
            <a:ext cx="8520600" cy="1045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ru-RU" dirty="0">
              <a:solidFill>
                <a:srgbClr val="212529"/>
              </a:solidFill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  <a:p>
            <a:pPr marL="0" indent="0">
              <a:buNone/>
            </a:pPr>
            <a:endParaRPr lang="ru-RU" dirty="0">
              <a:solidFill>
                <a:srgbClr val="212529"/>
              </a:solidFill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  <a:p>
            <a:pPr marL="0" indent="0">
              <a:buNone/>
            </a:pPr>
            <a:endParaRPr lang="ru" b="1" dirty="0">
              <a:solidFill>
                <a:srgbClr val="0E278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94" name="Google Shape;94;p17">
            <a:extLst>
              <a:ext uri="{FF2B5EF4-FFF2-40B4-BE49-F238E27FC236}">
                <a16:creationId xmlns:a16="http://schemas.microsoft.com/office/drawing/2014/main" id="{B7C4B28B-BAA0-7C06-C2A3-CA50B121B5FE}"/>
              </a:ext>
            </a:extLst>
          </p:cNvPr>
          <p:cNvGrpSpPr/>
          <p:nvPr/>
        </p:nvGrpSpPr>
        <p:grpSpPr>
          <a:xfrm>
            <a:off x="0" y="4470925"/>
            <a:ext cx="9144000" cy="672600"/>
            <a:chOff x="0" y="4470925"/>
            <a:chExt cx="9144000" cy="672600"/>
          </a:xfrm>
        </p:grpSpPr>
        <p:sp>
          <p:nvSpPr>
            <p:cNvPr id="95" name="Google Shape;95;p17">
              <a:extLst>
                <a:ext uri="{FF2B5EF4-FFF2-40B4-BE49-F238E27FC236}">
                  <a16:creationId xmlns:a16="http://schemas.microsoft.com/office/drawing/2014/main" id="{ED79DBB4-ABF6-8C4F-6CFD-320C0ABBD728}"/>
                </a:ext>
              </a:extLst>
            </p:cNvPr>
            <p:cNvSpPr/>
            <p:nvPr/>
          </p:nvSpPr>
          <p:spPr>
            <a:xfrm>
              <a:off x="0" y="4470925"/>
              <a:ext cx="9144000" cy="672600"/>
            </a:xfrm>
            <a:prstGeom prst="rect">
              <a:avLst/>
            </a:prstGeom>
            <a:gradFill>
              <a:gsLst>
                <a:gs pos="0">
                  <a:srgbClr val="0E278A"/>
                </a:gs>
                <a:gs pos="83000">
                  <a:srgbClr val="050D3F"/>
                </a:gs>
                <a:gs pos="100000">
                  <a:srgbClr val="050D3F"/>
                </a:gs>
              </a:gsLst>
              <a:lin ang="558015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6" name="Google Shape;96;p17">
              <a:extLst>
                <a:ext uri="{FF2B5EF4-FFF2-40B4-BE49-F238E27FC236}">
                  <a16:creationId xmlns:a16="http://schemas.microsoft.com/office/drawing/2014/main" id="{F2CC20A8-80BC-08EF-F401-DC2A365BF75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45127" y="4554150"/>
              <a:ext cx="1987171" cy="467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45C7D2E-851A-BAF3-3753-37E46AD19471}"/>
              </a:ext>
            </a:extLst>
          </p:cNvPr>
          <p:cNvSpPr txBox="1"/>
          <p:nvPr/>
        </p:nvSpPr>
        <p:spPr>
          <a:xfrm>
            <a:off x="311698" y="862856"/>
            <a:ext cx="85205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Справочник изделий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 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реестр конкретных экземпляров продукции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которые можно произвести, купить или хранить на складе.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Чем отличается справочник от перечислений?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C0EEA93-B6A7-EA6F-BC66-AE547A22A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698" y="1816964"/>
            <a:ext cx="8520599" cy="135505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D56CF67-689B-D9B2-76C7-9C42BFF1BC7A}"/>
              </a:ext>
            </a:extLst>
          </p:cNvPr>
          <p:cNvSpPr txBox="1"/>
          <p:nvPr/>
        </p:nvSpPr>
        <p:spPr>
          <a:xfrm>
            <a:off x="311697" y="3321317"/>
            <a:ext cx="8520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Простая аналогия:</a:t>
            </a:r>
            <a:b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Перечисление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меню в ресторане (список того, что можно заказать)</a:t>
            </a:r>
            <a:br>
              <a:rPr lang="en-US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Справочник изделий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конкретные заказы посетителей (что именно и с какими параметрами заказано)</a:t>
            </a:r>
          </a:p>
        </p:txBody>
      </p:sp>
    </p:spTree>
    <p:extLst>
      <p:ext uri="{BB962C8B-B14F-4D97-AF65-F5344CB8AC3E}">
        <p14:creationId xmlns:p14="http://schemas.microsoft.com/office/powerpoint/2010/main" val="3607517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43A567B6-D3C9-1787-0928-5C6A8B355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>
            <a:extLst>
              <a:ext uri="{FF2B5EF4-FFF2-40B4-BE49-F238E27FC236}">
                <a16:creationId xmlns:a16="http://schemas.microsoft.com/office/drawing/2014/main" id="{5D49D79B-3A02-EAF7-537B-B7EC2A2BF2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901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-RU" sz="2720" b="1" dirty="0">
                <a:solidFill>
                  <a:srgbClr val="0E278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Введение в предметную область </a:t>
            </a:r>
            <a:endParaRPr sz="2720" b="1" dirty="0">
              <a:solidFill>
                <a:srgbClr val="0E278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94" name="Google Shape;94;p17">
            <a:extLst>
              <a:ext uri="{FF2B5EF4-FFF2-40B4-BE49-F238E27FC236}">
                <a16:creationId xmlns:a16="http://schemas.microsoft.com/office/drawing/2014/main" id="{89387D2F-007C-5B9F-7B1F-66FAF6BD6BAD}"/>
              </a:ext>
            </a:extLst>
          </p:cNvPr>
          <p:cNvGrpSpPr/>
          <p:nvPr/>
        </p:nvGrpSpPr>
        <p:grpSpPr>
          <a:xfrm>
            <a:off x="0" y="4470925"/>
            <a:ext cx="9144000" cy="672600"/>
            <a:chOff x="0" y="4470925"/>
            <a:chExt cx="9144000" cy="672600"/>
          </a:xfrm>
        </p:grpSpPr>
        <p:sp>
          <p:nvSpPr>
            <p:cNvPr id="95" name="Google Shape;95;p17">
              <a:extLst>
                <a:ext uri="{FF2B5EF4-FFF2-40B4-BE49-F238E27FC236}">
                  <a16:creationId xmlns:a16="http://schemas.microsoft.com/office/drawing/2014/main" id="{2A2CD943-DB62-1957-75A5-F5D0CE947A6D}"/>
                </a:ext>
              </a:extLst>
            </p:cNvPr>
            <p:cNvSpPr/>
            <p:nvPr/>
          </p:nvSpPr>
          <p:spPr>
            <a:xfrm>
              <a:off x="0" y="4470925"/>
              <a:ext cx="9144000" cy="672600"/>
            </a:xfrm>
            <a:prstGeom prst="rect">
              <a:avLst/>
            </a:prstGeom>
            <a:gradFill>
              <a:gsLst>
                <a:gs pos="0">
                  <a:srgbClr val="0E278A"/>
                </a:gs>
                <a:gs pos="83000">
                  <a:srgbClr val="050D3F"/>
                </a:gs>
                <a:gs pos="100000">
                  <a:srgbClr val="050D3F"/>
                </a:gs>
              </a:gsLst>
              <a:lin ang="558015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6" name="Google Shape;96;p17">
              <a:extLst>
                <a:ext uri="{FF2B5EF4-FFF2-40B4-BE49-F238E27FC236}">
                  <a16:creationId xmlns:a16="http://schemas.microsoft.com/office/drawing/2014/main" id="{7D87B7C6-7FF3-C167-D135-50183B5D9DC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45127" y="4554150"/>
              <a:ext cx="1987171" cy="467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ABE0F75-33CD-8C2C-B8B4-AFFF58DBC135}"/>
              </a:ext>
            </a:extLst>
          </p:cNvPr>
          <p:cNvSpPr txBox="1"/>
          <p:nvPr/>
        </p:nvSpPr>
        <p:spPr>
          <a:xfrm>
            <a:off x="311698" y="862856"/>
            <a:ext cx="85205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Связь между заданиями: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5866376-CFB7-255D-0E56-59FC3E2AB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017" y="1170633"/>
            <a:ext cx="8125959" cy="21815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B128DD-4CF7-EABE-651F-139DBBC22FBF}"/>
              </a:ext>
            </a:extLst>
          </p:cNvPr>
          <p:cNvSpPr txBox="1"/>
          <p:nvPr/>
        </p:nvSpPr>
        <p:spPr>
          <a:xfrm>
            <a:off x="509017" y="3552187"/>
            <a:ext cx="81259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Справочник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то, с чем работает пользователь каждый день (изделия на складе, в заказах). 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Перечисления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это «строительные блоки» для создания характеристик этих изделий.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311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02471451-1D9F-171A-910A-C5039B091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>
            <a:extLst>
              <a:ext uri="{FF2B5EF4-FFF2-40B4-BE49-F238E27FC236}">
                <a16:creationId xmlns:a16="http://schemas.microsoft.com/office/drawing/2014/main" id="{2937271F-9584-05A8-0114-47C9D3BBD2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901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-RU" sz="2720" b="1" dirty="0">
                <a:solidFill>
                  <a:srgbClr val="0E278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Введение в предметную область </a:t>
            </a:r>
            <a:endParaRPr sz="2720" b="1" dirty="0">
              <a:solidFill>
                <a:srgbClr val="0E278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3" name="Google Shape;93;p17">
            <a:extLst>
              <a:ext uri="{FF2B5EF4-FFF2-40B4-BE49-F238E27FC236}">
                <a16:creationId xmlns:a16="http://schemas.microsoft.com/office/drawing/2014/main" id="{3929890C-6338-2E8E-1CCE-05016E479D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8" y="912300"/>
            <a:ext cx="8520600" cy="1045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ru-RU" dirty="0">
              <a:solidFill>
                <a:srgbClr val="212529"/>
              </a:solidFill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  <a:p>
            <a:pPr marL="0" indent="0">
              <a:buNone/>
            </a:pPr>
            <a:endParaRPr lang="ru-RU" dirty="0">
              <a:solidFill>
                <a:srgbClr val="212529"/>
              </a:solidFill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  <a:p>
            <a:pPr marL="0" indent="0">
              <a:buNone/>
            </a:pPr>
            <a:endParaRPr lang="ru" b="1" dirty="0">
              <a:solidFill>
                <a:srgbClr val="0E278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94" name="Google Shape;94;p17">
            <a:extLst>
              <a:ext uri="{FF2B5EF4-FFF2-40B4-BE49-F238E27FC236}">
                <a16:creationId xmlns:a16="http://schemas.microsoft.com/office/drawing/2014/main" id="{AA53FB44-773F-1D83-1EE9-1A0543CA6C15}"/>
              </a:ext>
            </a:extLst>
          </p:cNvPr>
          <p:cNvGrpSpPr/>
          <p:nvPr/>
        </p:nvGrpSpPr>
        <p:grpSpPr>
          <a:xfrm>
            <a:off x="0" y="4470925"/>
            <a:ext cx="9144000" cy="672600"/>
            <a:chOff x="0" y="4470925"/>
            <a:chExt cx="9144000" cy="672600"/>
          </a:xfrm>
        </p:grpSpPr>
        <p:sp>
          <p:nvSpPr>
            <p:cNvPr id="95" name="Google Shape;95;p17">
              <a:extLst>
                <a:ext uri="{FF2B5EF4-FFF2-40B4-BE49-F238E27FC236}">
                  <a16:creationId xmlns:a16="http://schemas.microsoft.com/office/drawing/2014/main" id="{6052D37A-0D9B-6692-EC9F-6E6ED447859E}"/>
                </a:ext>
              </a:extLst>
            </p:cNvPr>
            <p:cNvSpPr/>
            <p:nvPr/>
          </p:nvSpPr>
          <p:spPr>
            <a:xfrm>
              <a:off x="0" y="4470925"/>
              <a:ext cx="9144000" cy="672600"/>
            </a:xfrm>
            <a:prstGeom prst="rect">
              <a:avLst/>
            </a:prstGeom>
            <a:gradFill>
              <a:gsLst>
                <a:gs pos="0">
                  <a:srgbClr val="0E278A"/>
                </a:gs>
                <a:gs pos="83000">
                  <a:srgbClr val="050D3F"/>
                </a:gs>
                <a:gs pos="100000">
                  <a:srgbClr val="050D3F"/>
                </a:gs>
              </a:gsLst>
              <a:lin ang="558015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6" name="Google Shape;96;p17">
              <a:extLst>
                <a:ext uri="{FF2B5EF4-FFF2-40B4-BE49-F238E27FC236}">
                  <a16:creationId xmlns:a16="http://schemas.microsoft.com/office/drawing/2014/main" id="{94419387-7DC5-49B4-E0A7-541DB45A19B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45127" y="4554150"/>
              <a:ext cx="1987171" cy="467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12E8A19-93E4-33DC-D638-9034A2FF0B21}"/>
              </a:ext>
            </a:extLst>
          </p:cNvPr>
          <p:cNvSpPr txBox="1"/>
          <p:nvPr/>
        </p:nvSpPr>
        <p:spPr>
          <a:xfrm>
            <a:off x="311698" y="2098994"/>
            <a:ext cx="4572000" cy="2371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Чертеж разреза прямоугольного профиля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ширина профиля,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толщина стенки профиля,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площадь поперечного сечения,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4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1400" i="1" baseline="-25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момент инерции сечения относительно оси </a:t>
            </a:r>
            <a:r>
              <a:rPr lang="ru-RU" sz="1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4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ru-RU" sz="1400" i="1" baseline="-25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момент сопротивления сечения относительно оси </a:t>
            </a:r>
            <a:r>
              <a:rPr lang="ru-RU" sz="1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1400" baseline="-25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радиус инерции относительно оси </a:t>
            </a:r>
            <a:r>
              <a:rPr lang="ru-RU" sz="1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4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1400" i="1" baseline="-25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момент инерции сечения относительно оси </a:t>
            </a:r>
            <a:r>
              <a:rPr lang="ru-RU" sz="1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buNone/>
            </a:pPr>
            <a:r>
              <a:rPr lang="ru-RU" sz="14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ru-RU" sz="1400" i="1" baseline="-25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момент сопротивления сечения относительно оси </a:t>
            </a:r>
            <a:r>
              <a:rPr lang="ru-RU" sz="1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1400" i="1" baseline="-25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радиус инерции относительно оси </a:t>
            </a:r>
            <a:r>
              <a:rPr lang="ru-RU" sz="1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 descr="IMG00017">
            <a:extLst>
              <a:ext uri="{FF2B5EF4-FFF2-40B4-BE49-F238E27FC236}">
                <a16:creationId xmlns:a16="http://schemas.microsoft.com/office/drawing/2014/main" id="{4B25DDD8-7349-2EFD-3147-165E8557B3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040" y="777761"/>
            <a:ext cx="1631315" cy="147066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F264CD-8426-9E8A-45ED-14477E6EA547}"/>
              </a:ext>
            </a:extLst>
          </p:cNvPr>
          <p:cNvSpPr txBox="1"/>
          <p:nvPr/>
        </p:nvSpPr>
        <p:spPr>
          <a:xfrm>
            <a:off x="5102052" y="2094696"/>
            <a:ext cx="348615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Чертеж разреза трубы</a:t>
            </a:r>
            <a:endParaRPr lang="ru-RU" sz="1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диаметр трубы,</a:t>
            </a:r>
            <a:endParaRPr lang="ru-RU" sz="1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толщина стенки профиля,</a:t>
            </a:r>
            <a:endParaRPr lang="ru-RU" sz="1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площадь поперечного сечения,</a:t>
            </a:r>
            <a:endParaRPr lang="ru-RU" sz="1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масса профиля.</a:t>
            </a:r>
            <a:endParaRPr lang="ru-RU" sz="1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 descr="IMG00014">
            <a:extLst>
              <a:ext uri="{FF2B5EF4-FFF2-40B4-BE49-F238E27FC236}">
                <a16:creationId xmlns:a16="http://schemas.microsoft.com/office/drawing/2014/main" id="{6AAD264E-21D8-2891-F776-81A566ED95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909" y="869201"/>
            <a:ext cx="1448435" cy="12877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404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4AEC1026-8CBE-DF29-BDDF-C7749E03F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>
            <a:extLst>
              <a:ext uri="{FF2B5EF4-FFF2-40B4-BE49-F238E27FC236}">
                <a16:creationId xmlns:a16="http://schemas.microsoft.com/office/drawing/2014/main" id="{3857A7DF-51F4-27EB-8872-D3F49B91BE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901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-RU" sz="2720" b="1" dirty="0">
                <a:solidFill>
                  <a:srgbClr val="0E278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Введение в предметную область </a:t>
            </a:r>
            <a:endParaRPr sz="2720" b="1" dirty="0">
              <a:solidFill>
                <a:srgbClr val="0E278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3" name="Google Shape;93;p17">
            <a:extLst>
              <a:ext uri="{FF2B5EF4-FFF2-40B4-BE49-F238E27FC236}">
                <a16:creationId xmlns:a16="http://schemas.microsoft.com/office/drawing/2014/main" id="{CD793ACB-CC58-AEDE-6584-1DA519E4DB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8" y="912300"/>
            <a:ext cx="8520600" cy="1045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ru-RU" dirty="0">
              <a:solidFill>
                <a:srgbClr val="212529"/>
              </a:solidFill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  <a:p>
            <a:pPr marL="0" indent="0">
              <a:buNone/>
            </a:pPr>
            <a:endParaRPr lang="ru-RU" dirty="0">
              <a:solidFill>
                <a:srgbClr val="212529"/>
              </a:solidFill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  <a:p>
            <a:pPr marL="0" indent="0">
              <a:buNone/>
            </a:pPr>
            <a:endParaRPr lang="ru" b="1" dirty="0">
              <a:solidFill>
                <a:srgbClr val="0E278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94" name="Google Shape;94;p17">
            <a:extLst>
              <a:ext uri="{FF2B5EF4-FFF2-40B4-BE49-F238E27FC236}">
                <a16:creationId xmlns:a16="http://schemas.microsoft.com/office/drawing/2014/main" id="{F5DEEEC4-8D79-BD35-2F9C-893B70FB42BB}"/>
              </a:ext>
            </a:extLst>
          </p:cNvPr>
          <p:cNvGrpSpPr/>
          <p:nvPr/>
        </p:nvGrpSpPr>
        <p:grpSpPr>
          <a:xfrm>
            <a:off x="0" y="4470925"/>
            <a:ext cx="9144000" cy="672600"/>
            <a:chOff x="0" y="4470925"/>
            <a:chExt cx="9144000" cy="672600"/>
          </a:xfrm>
        </p:grpSpPr>
        <p:sp>
          <p:nvSpPr>
            <p:cNvPr id="95" name="Google Shape;95;p17">
              <a:extLst>
                <a:ext uri="{FF2B5EF4-FFF2-40B4-BE49-F238E27FC236}">
                  <a16:creationId xmlns:a16="http://schemas.microsoft.com/office/drawing/2014/main" id="{DAA62D90-30B7-3941-3BD7-1DDEBC07F3DE}"/>
                </a:ext>
              </a:extLst>
            </p:cNvPr>
            <p:cNvSpPr/>
            <p:nvPr/>
          </p:nvSpPr>
          <p:spPr>
            <a:xfrm>
              <a:off x="0" y="4470925"/>
              <a:ext cx="9144000" cy="672600"/>
            </a:xfrm>
            <a:prstGeom prst="rect">
              <a:avLst/>
            </a:prstGeom>
            <a:gradFill>
              <a:gsLst>
                <a:gs pos="0">
                  <a:srgbClr val="0E278A"/>
                </a:gs>
                <a:gs pos="83000">
                  <a:srgbClr val="050D3F"/>
                </a:gs>
                <a:gs pos="100000">
                  <a:srgbClr val="050D3F"/>
                </a:gs>
              </a:gsLst>
              <a:lin ang="558015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6" name="Google Shape;96;p17">
              <a:extLst>
                <a:ext uri="{FF2B5EF4-FFF2-40B4-BE49-F238E27FC236}">
                  <a16:creationId xmlns:a16="http://schemas.microsoft.com/office/drawing/2014/main" id="{BABFFEF8-891C-9787-5B02-5E7DB109BC2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45127" y="4554150"/>
              <a:ext cx="1987171" cy="4672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3C858C8-B656-3ABB-FAD1-3D9973B4A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288" y="780256"/>
            <a:ext cx="3876740" cy="32260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EA480AD-B5C0-A7B4-51DC-C8C3374B85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1185" y="773940"/>
            <a:ext cx="3977701" cy="32323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F4F843-E77C-EDDE-7B75-BCD39BC5E5BB}"/>
              </a:ext>
            </a:extLst>
          </p:cNvPr>
          <p:cNvSpPr txBox="1"/>
          <p:nvPr/>
        </p:nvSpPr>
        <p:spPr>
          <a:xfrm>
            <a:off x="338288" y="3989318"/>
            <a:ext cx="85205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Примеры из приложения </a:t>
            </a:r>
            <a:r>
              <a:rPr lang="ru-RU" sz="1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Справочник стального проката</a:t>
            </a:r>
            <a:endParaRPr lang="ru-RU" b="1" i="1" dirty="0"/>
          </a:p>
        </p:txBody>
      </p:sp>
    </p:spTree>
    <p:extLst>
      <p:ext uri="{BB962C8B-B14F-4D97-AF65-F5344CB8AC3E}">
        <p14:creationId xmlns:p14="http://schemas.microsoft.com/office/powerpoint/2010/main" val="2491394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0D223D13-7CD7-B9F7-1882-A136C6C6B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>
            <a:extLst>
              <a:ext uri="{FF2B5EF4-FFF2-40B4-BE49-F238E27FC236}">
                <a16:creationId xmlns:a16="http://schemas.microsoft.com/office/drawing/2014/main" id="{77728869-5B1B-4E48-1A30-4FFFA08A86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901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-RU" sz="2720" b="1" dirty="0">
                <a:solidFill>
                  <a:srgbClr val="0E278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Введение в предметную область </a:t>
            </a:r>
            <a:endParaRPr sz="2720" b="1" dirty="0">
              <a:solidFill>
                <a:srgbClr val="0E278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3" name="Google Shape;93;p17">
            <a:extLst>
              <a:ext uri="{FF2B5EF4-FFF2-40B4-BE49-F238E27FC236}">
                <a16:creationId xmlns:a16="http://schemas.microsoft.com/office/drawing/2014/main" id="{FF054535-C3B4-A953-413E-A5ED7C5746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8" y="912300"/>
            <a:ext cx="8520600" cy="343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ru-RU" dirty="0">
              <a:solidFill>
                <a:srgbClr val="212529"/>
              </a:solidFill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  <a:p>
            <a:pPr marL="0" indent="0">
              <a:buNone/>
            </a:pPr>
            <a:endParaRPr lang="ru-RU" dirty="0">
              <a:solidFill>
                <a:srgbClr val="212529"/>
              </a:solidFill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  <a:p>
            <a:pPr marL="0" indent="0">
              <a:buNone/>
            </a:pPr>
            <a:endParaRPr lang="ru" b="1" dirty="0">
              <a:solidFill>
                <a:srgbClr val="0E278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94" name="Google Shape;94;p17">
            <a:extLst>
              <a:ext uri="{FF2B5EF4-FFF2-40B4-BE49-F238E27FC236}">
                <a16:creationId xmlns:a16="http://schemas.microsoft.com/office/drawing/2014/main" id="{4968936B-1BFD-D39C-DCBA-54D9198CE664}"/>
              </a:ext>
            </a:extLst>
          </p:cNvPr>
          <p:cNvGrpSpPr/>
          <p:nvPr/>
        </p:nvGrpSpPr>
        <p:grpSpPr>
          <a:xfrm>
            <a:off x="0" y="4470925"/>
            <a:ext cx="9144000" cy="672600"/>
            <a:chOff x="0" y="4470925"/>
            <a:chExt cx="9144000" cy="672600"/>
          </a:xfrm>
        </p:grpSpPr>
        <p:sp>
          <p:nvSpPr>
            <p:cNvPr id="95" name="Google Shape;95;p17">
              <a:extLst>
                <a:ext uri="{FF2B5EF4-FFF2-40B4-BE49-F238E27FC236}">
                  <a16:creationId xmlns:a16="http://schemas.microsoft.com/office/drawing/2014/main" id="{DA79B1D1-B869-F085-0E27-2188A002C4F1}"/>
                </a:ext>
              </a:extLst>
            </p:cNvPr>
            <p:cNvSpPr/>
            <p:nvPr/>
          </p:nvSpPr>
          <p:spPr>
            <a:xfrm>
              <a:off x="0" y="4470925"/>
              <a:ext cx="9144000" cy="672600"/>
            </a:xfrm>
            <a:prstGeom prst="rect">
              <a:avLst/>
            </a:prstGeom>
            <a:gradFill>
              <a:gsLst>
                <a:gs pos="0">
                  <a:srgbClr val="0E278A"/>
                </a:gs>
                <a:gs pos="83000">
                  <a:srgbClr val="050D3F"/>
                </a:gs>
                <a:gs pos="100000">
                  <a:srgbClr val="050D3F"/>
                </a:gs>
              </a:gsLst>
              <a:lin ang="558015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6" name="Google Shape;96;p17">
              <a:extLst>
                <a:ext uri="{FF2B5EF4-FFF2-40B4-BE49-F238E27FC236}">
                  <a16:creationId xmlns:a16="http://schemas.microsoft.com/office/drawing/2014/main" id="{4ED48C69-633B-1B95-6FB8-2E55C4510AF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45127" y="4554150"/>
              <a:ext cx="1987171" cy="4672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B089BFD-57FC-E99D-0D80-6AF5CDD9E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698" y="912300"/>
            <a:ext cx="4554864" cy="31810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7E1FC7-F146-3B94-D35B-ABDBB2DF59D4}"/>
              </a:ext>
            </a:extLst>
          </p:cNvPr>
          <p:cNvSpPr txBox="1"/>
          <p:nvPr/>
        </p:nvSpPr>
        <p:spPr>
          <a:xfrm>
            <a:off x="4986336" y="862856"/>
            <a:ext cx="3757613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 по результатам анализа: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1. Количество классов изделий  велико. Исходные данные предоставляют только небольшую часть классификатора.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2. Выделяемые  подклассы обладают большим разнообразием технических характеристик. Исходные данные предоставляют только часть характеристик объектов.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3. Для преодоления указанных особенностей необходим конструктор классификатора и справочника, доступный специалистам на этапе исполнения.</a:t>
            </a:r>
          </a:p>
        </p:txBody>
      </p:sp>
    </p:spTree>
    <p:extLst>
      <p:ext uri="{BB962C8B-B14F-4D97-AF65-F5344CB8AC3E}">
        <p14:creationId xmlns:p14="http://schemas.microsoft.com/office/powerpoint/2010/main" val="189653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>
            <a:spLocks noGrp="1"/>
          </p:cNvSpPr>
          <p:nvPr>
            <p:ph type="title"/>
          </p:nvPr>
        </p:nvSpPr>
        <p:spPr>
          <a:xfrm>
            <a:off x="311700" y="2901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-RU" sz="2720" b="1" dirty="0">
                <a:solidFill>
                  <a:srgbClr val="0E278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Анализ требований (</a:t>
            </a:r>
            <a:r>
              <a:rPr lang="en-US" sz="2720" b="1" dirty="0">
                <a:solidFill>
                  <a:srgbClr val="0E278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Use-case)</a:t>
            </a:r>
            <a:endParaRPr sz="2720" b="1" dirty="0">
              <a:solidFill>
                <a:srgbClr val="0E278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09" name="Google Shape;109;p19"/>
          <p:cNvGrpSpPr/>
          <p:nvPr/>
        </p:nvGrpSpPr>
        <p:grpSpPr>
          <a:xfrm>
            <a:off x="0" y="4470925"/>
            <a:ext cx="9144000" cy="672600"/>
            <a:chOff x="0" y="4470925"/>
            <a:chExt cx="9144000" cy="672600"/>
          </a:xfrm>
        </p:grpSpPr>
        <p:sp>
          <p:nvSpPr>
            <p:cNvPr id="110" name="Google Shape;110;p19"/>
            <p:cNvSpPr/>
            <p:nvPr/>
          </p:nvSpPr>
          <p:spPr>
            <a:xfrm>
              <a:off x="0" y="4470925"/>
              <a:ext cx="9144000" cy="672600"/>
            </a:xfrm>
            <a:prstGeom prst="rect">
              <a:avLst/>
            </a:prstGeom>
            <a:gradFill>
              <a:gsLst>
                <a:gs pos="0">
                  <a:srgbClr val="0E278A"/>
                </a:gs>
                <a:gs pos="83000">
                  <a:srgbClr val="050D3F"/>
                </a:gs>
                <a:gs pos="100000">
                  <a:srgbClr val="050D3F"/>
                </a:gs>
              </a:gsLst>
              <a:lin ang="558015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1" name="Google Shape;111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45127" y="4554150"/>
              <a:ext cx="1987171" cy="467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FCC4BC2-ED9B-1C21-D3DE-FE95BDC60FC6}"/>
              </a:ext>
            </a:extLst>
          </p:cNvPr>
          <p:cNvSpPr txBox="1"/>
          <p:nvPr/>
        </p:nvSpPr>
        <p:spPr>
          <a:xfrm>
            <a:off x="1733979" y="4041023"/>
            <a:ext cx="59404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Диаграмма прецедентов для задачи </a:t>
            </a:r>
            <a:r>
              <a:rPr lang="ru-RU" sz="1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Ведение справочника изделий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0E25B4F-0D0D-D779-2C51-5F212F3D2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437" y="862856"/>
            <a:ext cx="6845126" cy="32237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19CD0F2-0420-B656-7326-814BAF75B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>
            <a:extLst>
              <a:ext uri="{FF2B5EF4-FFF2-40B4-BE49-F238E27FC236}">
                <a16:creationId xmlns:a16="http://schemas.microsoft.com/office/drawing/2014/main" id="{AF917F7A-F5B5-1B94-AE4A-1356D4CEAB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901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-RU" sz="2720" b="1" dirty="0">
                <a:solidFill>
                  <a:srgbClr val="0E278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Модель анализа</a:t>
            </a:r>
            <a:endParaRPr sz="2720" b="1" dirty="0">
              <a:solidFill>
                <a:srgbClr val="0E278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09" name="Google Shape;109;p19">
            <a:extLst>
              <a:ext uri="{FF2B5EF4-FFF2-40B4-BE49-F238E27FC236}">
                <a16:creationId xmlns:a16="http://schemas.microsoft.com/office/drawing/2014/main" id="{CECD59F4-4B06-C197-A066-1B7D8505FC14}"/>
              </a:ext>
            </a:extLst>
          </p:cNvPr>
          <p:cNvGrpSpPr/>
          <p:nvPr/>
        </p:nvGrpSpPr>
        <p:grpSpPr>
          <a:xfrm>
            <a:off x="0" y="4470925"/>
            <a:ext cx="9144000" cy="672600"/>
            <a:chOff x="0" y="4470925"/>
            <a:chExt cx="9144000" cy="672600"/>
          </a:xfrm>
        </p:grpSpPr>
        <p:sp>
          <p:nvSpPr>
            <p:cNvPr id="110" name="Google Shape;110;p19">
              <a:extLst>
                <a:ext uri="{FF2B5EF4-FFF2-40B4-BE49-F238E27FC236}">
                  <a16:creationId xmlns:a16="http://schemas.microsoft.com/office/drawing/2014/main" id="{0ABFF4F1-6849-D78B-5E04-52184A86F4CA}"/>
                </a:ext>
              </a:extLst>
            </p:cNvPr>
            <p:cNvSpPr/>
            <p:nvPr/>
          </p:nvSpPr>
          <p:spPr>
            <a:xfrm>
              <a:off x="0" y="4470925"/>
              <a:ext cx="9144000" cy="672600"/>
            </a:xfrm>
            <a:prstGeom prst="rect">
              <a:avLst/>
            </a:prstGeom>
            <a:gradFill>
              <a:gsLst>
                <a:gs pos="0">
                  <a:srgbClr val="0E278A"/>
                </a:gs>
                <a:gs pos="83000">
                  <a:srgbClr val="050D3F"/>
                </a:gs>
                <a:gs pos="100000">
                  <a:srgbClr val="050D3F"/>
                </a:gs>
              </a:gsLst>
              <a:lin ang="558015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1" name="Google Shape;111;p19">
              <a:extLst>
                <a:ext uri="{FF2B5EF4-FFF2-40B4-BE49-F238E27FC236}">
                  <a16:creationId xmlns:a16="http://schemas.microsoft.com/office/drawing/2014/main" id="{B4CD07E4-7077-0C1A-CB85-C263612527B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45127" y="4554150"/>
              <a:ext cx="1987171" cy="467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43B65A4-7869-72A8-36A4-F1B6FDF5A739}"/>
              </a:ext>
            </a:extLst>
          </p:cNvPr>
          <p:cNvSpPr txBox="1"/>
          <p:nvPr/>
        </p:nvSpPr>
        <p:spPr>
          <a:xfrm>
            <a:off x="3479796" y="3857119"/>
            <a:ext cx="5352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Модель классов для описания параметров с указанием их типов</a:t>
            </a:r>
            <a:endParaRPr lang="ru-RU" sz="1200" i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3A495F-BD25-7517-CF91-605ED6FF1B9F}"/>
              </a:ext>
            </a:extLst>
          </p:cNvPr>
          <p:cNvSpPr txBox="1"/>
          <p:nvPr/>
        </p:nvSpPr>
        <p:spPr>
          <a:xfrm>
            <a:off x="311700" y="862856"/>
            <a:ext cx="30411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описания параметров вводится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метакласс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«Параметр»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тип которого определяется ссылкой на 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«Классификатор объектов»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Базовые типы параметров: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Численный тип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(Real,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для величин (длина, вес, диаметр)</a:t>
            </a:r>
          </a:p>
          <a:p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DateTime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для дат</a:t>
            </a:r>
          </a:p>
          <a:p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для строковых значений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Перечисление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для выбора из списка (тип соединения, исполнение)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Преимущество: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Тип параметра может быть любым классом из классификатора объектов. Это позволяет расширять систему новыми типами без изменения кода.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4734DD6-8691-A6B8-0787-051326709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9798" y="862856"/>
            <a:ext cx="5352500" cy="299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608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>
            <a:spLocks noGrp="1"/>
          </p:cNvSpPr>
          <p:nvPr>
            <p:ph type="title"/>
          </p:nvPr>
        </p:nvSpPr>
        <p:spPr>
          <a:xfrm>
            <a:off x="311700" y="2901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-RU" sz="2400" b="1" dirty="0">
                <a:solidFill>
                  <a:srgbClr val="0E278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Модель проектирования</a:t>
            </a:r>
            <a:endParaRPr sz="2400" b="1" dirty="0">
              <a:solidFill>
                <a:srgbClr val="0E278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31" name="Google Shape;131;p22"/>
          <p:cNvGrpSpPr/>
          <p:nvPr/>
        </p:nvGrpSpPr>
        <p:grpSpPr>
          <a:xfrm>
            <a:off x="0" y="4470925"/>
            <a:ext cx="9144000" cy="672600"/>
            <a:chOff x="0" y="4470925"/>
            <a:chExt cx="9144000" cy="672600"/>
          </a:xfrm>
        </p:grpSpPr>
        <p:sp>
          <p:nvSpPr>
            <p:cNvPr id="132" name="Google Shape;132;p22"/>
            <p:cNvSpPr/>
            <p:nvPr/>
          </p:nvSpPr>
          <p:spPr>
            <a:xfrm>
              <a:off x="0" y="4470925"/>
              <a:ext cx="9144000" cy="672600"/>
            </a:xfrm>
            <a:prstGeom prst="rect">
              <a:avLst/>
            </a:prstGeom>
            <a:gradFill>
              <a:gsLst>
                <a:gs pos="0">
                  <a:srgbClr val="0E278A"/>
                </a:gs>
                <a:gs pos="83000">
                  <a:srgbClr val="050D3F"/>
                </a:gs>
                <a:gs pos="100000">
                  <a:srgbClr val="050D3F"/>
                </a:gs>
              </a:gsLst>
              <a:lin ang="558015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3" name="Google Shape;133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45127" y="4554150"/>
              <a:ext cx="1987171" cy="467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E204C52-0262-F390-8071-B5C3816548D7}"/>
              </a:ext>
            </a:extLst>
          </p:cNvPr>
          <p:cNvSpPr txBox="1"/>
          <p:nvPr/>
        </p:nvSpPr>
        <p:spPr>
          <a:xfrm>
            <a:off x="5621175" y="755259"/>
            <a:ext cx="323969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связи: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Наследование параметров: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При создании нового класса параметры копируются от родителя (процедура COPY_PAR)</a:t>
            </a:r>
          </a:p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Порядок параметров: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Управляется атрибутом «Номер» в Параметрах класса</a:t>
            </a:r>
          </a:p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Ограничения: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МинЗнач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МаксЗнач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численных параметров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428EB4-2B53-3200-91D7-B2C035F6E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126" y="816359"/>
            <a:ext cx="5366626" cy="358245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BC575E0-86D3-30CF-81E0-305909C201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1175" y="2280996"/>
            <a:ext cx="3211123" cy="20678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17E68A9F-75AE-FC88-2BD2-4BA1ED208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>
            <a:extLst>
              <a:ext uri="{FF2B5EF4-FFF2-40B4-BE49-F238E27FC236}">
                <a16:creationId xmlns:a16="http://schemas.microsoft.com/office/drawing/2014/main" id="{D6CAD8F7-D714-01CE-C983-F78AC90139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901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-RU" sz="2000" b="1" dirty="0">
                <a:solidFill>
                  <a:srgbClr val="0E278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Модель хранения данных (</a:t>
            </a:r>
            <a:r>
              <a:rPr lang="en-US" sz="2000" b="1" dirty="0">
                <a:solidFill>
                  <a:srgbClr val="0E278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ER-</a:t>
            </a:r>
            <a:r>
              <a:rPr lang="ru-RU" sz="2000" b="1" dirty="0">
                <a:solidFill>
                  <a:srgbClr val="0E278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диаграмма)</a:t>
            </a:r>
            <a:endParaRPr sz="2000" b="1" dirty="0">
              <a:solidFill>
                <a:srgbClr val="0E278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31" name="Google Shape;131;p22">
            <a:extLst>
              <a:ext uri="{FF2B5EF4-FFF2-40B4-BE49-F238E27FC236}">
                <a16:creationId xmlns:a16="http://schemas.microsoft.com/office/drawing/2014/main" id="{84E27300-D91D-B1B3-6CC2-741EF471AA3B}"/>
              </a:ext>
            </a:extLst>
          </p:cNvPr>
          <p:cNvGrpSpPr/>
          <p:nvPr/>
        </p:nvGrpSpPr>
        <p:grpSpPr>
          <a:xfrm>
            <a:off x="0" y="4470925"/>
            <a:ext cx="9144000" cy="672600"/>
            <a:chOff x="0" y="4470925"/>
            <a:chExt cx="9144000" cy="672600"/>
          </a:xfrm>
        </p:grpSpPr>
        <p:sp>
          <p:nvSpPr>
            <p:cNvPr id="132" name="Google Shape;132;p22">
              <a:extLst>
                <a:ext uri="{FF2B5EF4-FFF2-40B4-BE49-F238E27FC236}">
                  <a16:creationId xmlns:a16="http://schemas.microsoft.com/office/drawing/2014/main" id="{37EDA662-70FA-F0C0-C984-1F73A945BADF}"/>
                </a:ext>
              </a:extLst>
            </p:cNvPr>
            <p:cNvSpPr/>
            <p:nvPr/>
          </p:nvSpPr>
          <p:spPr>
            <a:xfrm>
              <a:off x="0" y="4470925"/>
              <a:ext cx="9144000" cy="672600"/>
            </a:xfrm>
            <a:prstGeom prst="rect">
              <a:avLst/>
            </a:prstGeom>
            <a:gradFill>
              <a:gsLst>
                <a:gs pos="0">
                  <a:srgbClr val="0E278A"/>
                </a:gs>
                <a:gs pos="83000">
                  <a:srgbClr val="050D3F"/>
                </a:gs>
                <a:gs pos="100000">
                  <a:srgbClr val="050D3F"/>
                </a:gs>
              </a:gsLst>
              <a:lin ang="558015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3" name="Google Shape;133;p22">
              <a:extLst>
                <a:ext uri="{FF2B5EF4-FFF2-40B4-BE49-F238E27FC236}">
                  <a16:creationId xmlns:a16="http://schemas.microsoft.com/office/drawing/2014/main" id="{3E37E4A9-531A-73E8-43FA-889A6879239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45127" y="4554150"/>
              <a:ext cx="1987171" cy="467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Rectangle 2">
            <a:extLst>
              <a:ext uri="{FF2B5EF4-FFF2-40B4-BE49-F238E27FC236}">
                <a16:creationId xmlns:a16="http://schemas.microsoft.com/office/drawing/2014/main" id="{CAB5F4D0-4524-A100-C61A-1CE34D717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700" y="105013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5DCEDC-DA0E-1BDB-F07A-0BB1CC240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87" y="857937"/>
            <a:ext cx="4152058" cy="349439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E811CB-2194-174E-455B-D648BE4759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344" y="857938"/>
            <a:ext cx="4197953" cy="18644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0763B9-022E-C479-3CF5-875F99BB159D}"/>
              </a:ext>
            </a:extLst>
          </p:cNvPr>
          <p:cNvSpPr txBox="1"/>
          <p:nvPr/>
        </p:nvSpPr>
        <p:spPr>
          <a:xfrm>
            <a:off x="4634343" y="2798640"/>
            <a:ext cx="419795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Особенности:</a:t>
            </a:r>
            <a:br>
              <a:rPr lang="ru-RU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1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PAR_CLASS1 позволяет привязать параметр к классу и задать ограничения</a:t>
            </a:r>
            <a:br>
              <a:rPr lang="ru-RU" sz="1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PAR_PROD1 хранит значения параметров конкретных изделий</a:t>
            </a:r>
            <a:br>
              <a:rPr lang="ru-RU" sz="1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Поддержка разных типов значений через отдельные поля (VAL_R, VAL_INT, VAL_STR, ENUM_VAL)</a:t>
            </a:r>
          </a:p>
        </p:txBody>
      </p:sp>
    </p:spTree>
    <p:extLst>
      <p:ext uri="{BB962C8B-B14F-4D97-AF65-F5344CB8AC3E}">
        <p14:creationId xmlns:p14="http://schemas.microsoft.com/office/powerpoint/2010/main" val="470000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FF1ABFF0-1B3B-60FA-416D-B0B16E8C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37E7986D-A625-E132-789C-A56CB7037C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901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-RU" sz="2720" b="1" dirty="0">
                <a:solidFill>
                  <a:srgbClr val="0E278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Процедуры поддержки бизнес-логики</a:t>
            </a:r>
            <a:endParaRPr sz="2720" b="1" dirty="0">
              <a:solidFill>
                <a:srgbClr val="0E278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83" name="Google Shape;83;p16">
            <a:extLst>
              <a:ext uri="{FF2B5EF4-FFF2-40B4-BE49-F238E27FC236}">
                <a16:creationId xmlns:a16="http://schemas.microsoft.com/office/drawing/2014/main" id="{CD6AA51D-5D22-16C6-B9F6-25F5A48AB5E1}"/>
              </a:ext>
            </a:extLst>
          </p:cNvPr>
          <p:cNvGrpSpPr/>
          <p:nvPr/>
        </p:nvGrpSpPr>
        <p:grpSpPr>
          <a:xfrm>
            <a:off x="0" y="4470925"/>
            <a:ext cx="9144000" cy="672600"/>
            <a:chOff x="0" y="4470925"/>
            <a:chExt cx="9144000" cy="672600"/>
          </a:xfrm>
        </p:grpSpPr>
        <p:sp>
          <p:nvSpPr>
            <p:cNvPr id="84" name="Google Shape;84;p16">
              <a:extLst>
                <a:ext uri="{FF2B5EF4-FFF2-40B4-BE49-F238E27FC236}">
                  <a16:creationId xmlns:a16="http://schemas.microsoft.com/office/drawing/2014/main" id="{31E79353-958F-E1F2-08B9-E15F49272053}"/>
                </a:ext>
              </a:extLst>
            </p:cNvPr>
            <p:cNvSpPr/>
            <p:nvPr/>
          </p:nvSpPr>
          <p:spPr>
            <a:xfrm>
              <a:off x="0" y="4470925"/>
              <a:ext cx="9144000" cy="672600"/>
            </a:xfrm>
            <a:prstGeom prst="rect">
              <a:avLst/>
            </a:prstGeom>
            <a:gradFill>
              <a:gsLst>
                <a:gs pos="0">
                  <a:srgbClr val="0E278A"/>
                </a:gs>
                <a:gs pos="83000">
                  <a:srgbClr val="050D3F"/>
                </a:gs>
                <a:gs pos="100000">
                  <a:srgbClr val="050D3F"/>
                </a:gs>
              </a:gsLst>
              <a:lin ang="558015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5" name="Google Shape;85;p16">
              <a:extLst>
                <a:ext uri="{FF2B5EF4-FFF2-40B4-BE49-F238E27FC236}">
                  <a16:creationId xmlns:a16="http://schemas.microsoft.com/office/drawing/2014/main" id="{D259868D-5A54-78EC-181D-6F64D31DBEE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45127" y="4554150"/>
              <a:ext cx="1987171" cy="467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BA552FB8-310F-7CC5-B8D4-7560C3C45B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773022"/>
            <a:ext cx="8589413" cy="328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ru-RU" sz="11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работы справочника изделий разработан набор хранимых процедур, которые выполняют ключевые функции.</a:t>
            </a:r>
          </a:p>
          <a:p>
            <a:r>
              <a:rPr lang="ru-RU" sz="11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Процедура COPY_PAR</a:t>
            </a:r>
            <a:r>
              <a:rPr lang="ru-RU" sz="11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отвечает за наследование параметров. Когда создается новый класс-потомок, эта процедура автоматически копирует к нему все параметры родительского класса. Это позволяет не настраивать параметры для каждого класса заново.</a:t>
            </a:r>
          </a:p>
          <a:p>
            <a:r>
              <a:rPr lang="ru-RU" sz="11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Процедура INS_PARAMETR</a:t>
            </a:r>
            <a:r>
              <a:rPr lang="ru-RU" sz="11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создает новый параметр в справочнике. При создании указывается обозначение, полное имя, единица измерения (для численных параметров) и тип параметра. Тип может быть численным (вещественный или целый), строковым или перечислением.</a:t>
            </a:r>
          </a:p>
          <a:p>
            <a:r>
              <a:rPr lang="ru-RU" sz="11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Процедура ADD_PARAMETR_CLASS</a:t>
            </a:r>
            <a:r>
              <a:rPr lang="ru-RU" sz="11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прикрепляет параметр к конкретному классу изделий. Здесь же задаются ограничения для численных параметров — минимальное и максимальное допустимое значение. При добавлении параметра к классу он автоматически распространяется на всех потомков этого класса.</a:t>
            </a:r>
          </a:p>
          <a:p>
            <a:r>
              <a:rPr lang="ru-RU" sz="11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Процедура WRITE_PAR_PROD</a:t>
            </a:r>
            <a:r>
              <a:rPr lang="ru-RU" sz="11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записывает значение параметра для конкретного изделия. Она выполняет важную проверку: определяет тип параметра, для численных значений проверяет попадание в заданный диапазон, для перечислений проверяет наличие выбранного значения в списке допустимых. Если проверка пройдена, значение сохраняется в соответствующее поле.</a:t>
            </a:r>
          </a:p>
          <a:p>
            <a:r>
              <a:rPr lang="ru-RU" sz="11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Процедура FIND_PAR_CLASS</a:t>
            </a:r>
            <a:r>
              <a:rPr lang="ru-RU" sz="11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возвращает список всех параметров, привязанных к указанному классу. Это используется для динамического построения формы ввода при создании нового изделия.</a:t>
            </a:r>
          </a:p>
          <a:p>
            <a:r>
              <a:rPr lang="ru-RU" sz="11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Процедура FIND_PAR_PROD</a:t>
            </a:r>
            <a:r>
              <a:rPr lang="ru-RU" sz="11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возвращает значения параметров для конкретного изделия. Она объединяет информацию о параметре (имя, единица измерения) с сохраненным значением, а для перечислений подтягивает также название выбранной позиции и иконку, если она есть.</a:t>
            </a:r>
          </a:p>
        </p:txBody>
      </p:sp>
    </p:spTree>
    <p:extLst>
      <p:ext uri="{BB962C8B-B14F-4D97-AF65-F5344CB8AC3E}">
        <p14:creationId xmlns:p14="http://schemas.microsoft.com/office/powerpoint/2010/main" val="2379564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B59338BB-88B2-DA1A-AF09-229793F15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7FC527FA-96D9-63BD-6961-D0A84ADFFE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901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-RU" sz="2000" b="1" dirty="0">
                <a:solidFill>
                  <a:srgbClr val="0E278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Курсовая работа (Графический пользовательский интерфейс)</a:t>
            </a:r>
            <a:endParaRPr sz="2000" b="1" dirty="0">
              <a:solidFill>
                <a:srgbClr val="0E278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83" name="Google Shape;83;p16">
            <a:extLst>
              <a:ext uri="{FF2B5EF4-FFF2-40B4-BE49-F238E27FC236}">
                <a16:creationId xmlns:a16="http://schemas.microsoft.com/office/drawing/2014/main" id="{92A378C6-5F42-1C40-BFDD-537FA0C4DFB3}"/>
              </a:ext>
            </a:extLst>
          </p:cNvPr>
          <p:cNvGrpSpPr/>
          <p:nvPr/>
        </p:nvGrpSpPr>
        <p:grpSpPr>
          <a:xfrm>
            <a:off x="0" y="4470925"/>
            <a:ext cx="9144000" cy="672600"/>
            <a:chOff x="0" y="4470925"/>
            <a:chExt cx="9144000" cy="672600"/>
          </a:xfrm>
        </p:grpSpPr>
        <p:sp>
          <p:nvSpPr>
            <p:cNvPr id="84" name="Google Shape;84;p16">
              <a:extLst>
                <a:ext uri="{FF2B5EF4-FFF2-40B4-BE49-F238E27FC236}">
                  <a16:creationId xmlns:a16="http://schemas.microsoft.com/office/drawing/2014/main" id="{D093FF42-788D-E8A0-F049-63E96FF34E59}"/>
                </a:ext>
              </a:extLst>
            </p:cNvPr>
            <p:cNvSpPr/>
            <p:nvPr/>
          </p:nvSpPr>
          <p:spPr>
            <a:xfrm>
              <a:off x="0" y="4470925"/>
              <a:ext cx="9144000" cy="672600"/>
            </a:xfrm>
            <a:prstGeom prst="rect">
              <a:avLst/>
            </a:prstGeom>
            <a:gradFill>
              <a:gsLst>
                <a:gs pos="0">
                  <a:srgbClr val="0E278A"/>
                </a:gs>
                <a:gs pos="83000">
                  <a:srgbClr val="050D3F"/>
                </a:gs>
                <a:gs pos="100000">
                  <a:srgbClr val="050D3F"/>
                </a:gs>
              </a:gsLst>
              <a:lin ang="558015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5" name="Google Shape;85;p16">
              <a:extLst>
                <a:ext uri="{FF2B5EF4-FFF2-40B4-BE49-F238E27FC236}">
                  <a16:creationId xmlns:a16="http://schemas.microsoft.com/office/drawing/2014/main" id="{3839AABF-9BEC-DCB7-E75E-61A908BF22E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45127" y="4554150"/>
              <a:ext cx="1987171" cy="467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CCED0FCD-E165-63EA-E662-83467CF1F9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773022"/>
            <a:ext cx="8589413" cy="328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на КР (Название КР): </a:t>
            </a:r>
            <a:r>
              <a:rPr lang="ru-RU" sz="1400" b="1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приложения для работы со справочником изделий</a:t>
            </a:r>
          </a:p>
          <a:p>
            <a:pPr marL="114300" indent="0">
              <a:buNone/>
            </a:pPr>
            <a:r>
              <a:rPr lang="ru-RU" sz="1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Назначение GUI: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Обеспечить удобный интерфейс для администраторов и пользователей справочника без необходимости писать SQL-запросы вручную. Ниже представлены примерные формы.</a:t>
            </a:r>
          </a:p>
          <a:p>
            <a:pPr marL="114300" indent="0">
              <a:buNone/>
            </a:pP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977976-F0C1-2CA3-50EA-FD2BD7DC1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203" y="1723322"/>
            <a:ext cx="6332509" cy="270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408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>
            <a:spLocks noGrp="1"/>
          </p:cNvSpPr>
          <p:nvPr>
            <p:ph type="ctrTitle" idx="4294967295"/>
          </p:nvPr>
        </p:nvSpPr>
        <p:spPr>
          <a:xfrm>
            <a:off x="125325" y="1"/>
            <a:ext cx="4146900" cy="429929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Успехов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заданием!</a:t>
            </a:r>
            <a:endParaRPr sz="2500" dirty="0">
              <a:solidFill>
                <a:srgbClr val="212529"/>
              </a:solidFill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</p:txBody>
      </p:sp>
      <p:pic>
        <p:nvPicPr>
          <p:cNvPr id="216" name="Google Shape;216;p32"/>
          <p:cNvPicPr preferRelativeResize="0"/>
          <p:nvPr/>
        </p:nvPicPr>
        <p:blipFill rotWithShape="1">
          <a:blip r:embed="rId3">
            <a:alphaModFix amt="90000"/>
          </a:blip>
          <a:srcRect l="16419" t="7547" r="19841" b="7547"/>
          <a:stretch/>
        </p:blipFill>
        <p:spPr>
          <a:xfrm>
            <a:off x="4272233" y="0"/>
            <a:ext cx="4871766" cy="42993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" name="Google Shape;217;p32"/>
          <p:cNvGrpSpPr/>
          <p:nvPr/>
        </p:nvGrpSpPr>
        <p:grpSpPr>
          <a:xfrm>
            <a:off x="0" y="4299300"/>
            <a:ext cx="9144000" cy="844200"/>
            <a:chOff x="0" y="4299300"/>
            <a:chExt cx="9144000" cy="844200"/>
          </a:xfrm>
        </p:grpSpPr>
        <p:sp>
          <p:nvSpPr>
            <p:cNvPr id="218" name="Google Shape;218;p32"/>
            <p:cNvSpPr/>
            <p:nvPr/>
          </p:nvSpPr>
          <p:spPr>
            <a:xfrm>
              <a:off x="0" y="4299300"/>
              <a:ext cx="9144000" cy="844200"/>
            </a:xfrm>
            <a:prstGeom prst="rect">
              <a:avLst/>
            </a:prstGeom>
            <a:gradFill>
              <a:gsLst>
                <a:gs pos="0">
                  <a:srgbClr val="0E278A"/>
                </a:gs>
                <a:gs pos="83000">
                  <a:srgbClr val="050D3F"/>
                </a:gs>
                <a:gs pos="100000">
                  <a:srgbClr val="050D3F"/>
                </a:gs>
              </a:gsLst>
              <a:lin ang="558015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9" name="Google Shape;219;p3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845127" y="4487775"/>
              <a:ext cx="1987171" cy="4672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951</Words>
  <Application>Microsoft Office PowerPoint</Application>
  <PresentationFormat>Экран (16:9)</PresentationFormat>
  <Paragraphs>88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Times New Roman</vt:lpstr>
      <vt:lpstr>Comic Sans MS</vt:lpstr>
      <vt:lpstr>Century Gothic</vt:lpstr>
      <vt:lpstr>Simple Light</vt:lpstr>
      <vt:lpstr>Тема: Приемы моделирования справочника</vt:lpstr>
      <vt:lpstr>Цель занятия</vt:lpstr>
      <vt:lpstr>Требования к системе</vt:lpstr>
      <vt:lpstr>Введение в предметную область </vt:lpstr>
      <vt:lpstr>Введение в предметную область </vt:lpstr>
      <vt:lpstr>Введение в предметную область </vt:lpstr>
      <vt:lpstr>Введение в предметную область </vt:lpstr>
      <vt:lpstr>Введение в предметную область </vt:lpstr>
      <vt:lpstr>Анализ требований (Use-case)</vt:lpstr>
      <vt:lpstr>Модель анализа</vt:lpstr>
      <vt:lpstr>Модель проектирования</vt:lpstr>
      <vt:lpstr>Модель хранения данных (ER-диаграмма)</vt:lpstr>
      <vt:lpstr>Процедуры поддержки бизнес-логики</vt:lpstr>
      <vt:lpstr>Курсовая работа (Графический пользовательский интерфейс)</vt:lpstr>
      <vt:lpstr>Успехов с заданием!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Тема: Приемы моделирования перечислений</dc:title>
  <cp:lastModifiedBy>Николай Дюков</cp:lastModifiedBy>
  <cp:revision>13</cp:revision>
  <dcterms:modified xsi:type="dcterms:W3CDTF">2026-03-24T20:49:37Z</dcterms:modified>
</cp:coreProperties>
</file>